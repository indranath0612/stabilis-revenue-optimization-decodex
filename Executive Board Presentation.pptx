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(Rs K)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At-Risk</c:v>
                </c:pt>
                <c:pt idx="2">
                  <c:v>Loyal</c:v>
                </c:pt>
                <c:pt idx="3">
                  <c:v>Pot. Loyalist</c:v>
                </c:pt>
                <c:pt idx="4">
                  <c:v>Dormant</c:v>
                </c:pt>
                <c:pt idx="5">
                  <c:v>Needs Att.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1886</c:v>
                </c:pt>
                <c:pt idx="1">
                  <c:v>443</c:v>
                </c:pt>
                <c:pt idx="2">
                  <c:v>317</c:v>
                </c:pt>
                <c:pt idx="3">
                  <c:v>311</c:v>
                </c:pt>
                <c:pt idx="4">
                  <c:v>110</c:v>
                </c:pt>
                <c:pt idx="5">
                  <c:v>102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fc0a3fb-9845-45ad-bdea-716215871409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9BB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Home Decor</c:v>
                </c:pt>
                <c:pt idx="1">
                  <c:v>Storage</c:v>
                </c:pt>
                <c:pt idx="2">
                  <c:v>Kitchen</c:v>
                </c:pt>
                <c:pt idx="3">
                  <c:v>Party</c:v>
                </c:pt>
                <c:pt idx="4">
                  <c:v>Stationery</c:v>
                </c:pt>
                <c:pt idx="5">
                  <c:v>Garden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25.5</c:v>
                </c:pt>
                <c:pt idx="1">
                  <c:v>17.4</c:v>
                </c:pt>
                <c:pt idx="2">
                  <c:v>14.2</c:v>
                </c:pt>
                <c:pt idx="3">
                  <c:v>18.8</c:v>
                </c:pt>
                <c:pt idx="4">
                  <c:v>8.6</c:v>
                </c:pt>
                <c:pt idx="5">
                  <c:v>6.1</c:v>
                </c:pt>
                <c:pt idx="6">
                  <c:v>9.4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b168b52-7585-457a-bc3f-18a1eedc097a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Loyal</c:v>
                </c:pt>
                <c:pt idx="2">
                  <c:v>Potential</c:v>
                </c:pt>
                <c:pt idx="3">
                  <c:v>Needs Att.</c:v>
                </c:pt>
                <c:pt idx="4">
                  <c:v>At-Risk</c:v>
                </c:pt>
                <c:pt idx="5">
                  <c:v>Dormant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0.88</c:v>
                </c:pt>
                <c:pt idx="2">
                  <c:v>1.24</c:v>
                </c:pt>
                <c:pt idx="3">
                  <c:v>1.76</c:v>
                </c:pt>
                <c:pt idx="4">
                  <c:v>2.31</c:v>
                </c:pt>
                <c:pt idx="5">
                  <c:v>3.18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48cb4b8-afba-4437-a5f8-12bc90fe4619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Basket Val</c:v>
                </c:pt>
                <c:pt idx="1">
                  <c:v>Return Rate</c:v>
                </c:pt>
                <c:pt idx="2">
                  <c:v>Cat Drift</c:v>
                </c:pt>
                <c:pt idx="3">
                  <c:v>SKU Overlap (norm)</c:v>
                </c:pt>
                <c:pt idx="4">
                  <c:v>Top-Decile Lift (norm)</c:v>
                </c:pt>
                <c:pt idx="5">
                  <c:v>Spearman r (norm)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Basket Val</c:v>
                </c:pt>
                <c:pt idx="1">
                  <c:v>Return Rate</c:v>
                </c:pt>
                <c:pt idx="2">
                  <c:v>Cat Drift</c:v>
                </c:pt>
                <c:pt idx="3">
                  <c:v>SKU Overlap (norm)</c:v>
                </c:pt>
                <c:pt idx="4">
                  <c:v>Top-Decile Lift (norm)</c:v>
                </c:pt>
                <c:pt idx="5">
                  <c:v>Spearman r (norm)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102.4</c:v>
                </c:pt>
                <c:pt idx="1">
                  <c:v>100.25</c:v>
                </c:pt>
                <c:pt idx="2">
                  <c:v>88</c:v>
                </c:pt>
                <c:pt idx="3">
                  <c:v>83.3</c:v>
                </c:pt>
                <c:pt idx="4">
                  <c:v>260</c:v>
                </c:pt>
                <c:pt idx="5">
                  <c:v>247.7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50" b="0" i="0" u="none" strike="noStrike" kern="1200" baseline="0">
              <a:solidFill>
                <a:srgbClr val="C8D6E5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8525686-9db9-4634-bdcf-1e25eb685a42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User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Returning Customers</c:v>
                </c:pt>
                <c:pt idx="1">
                  <c:v>New / Occasional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94.4</c:v>
                </c:pt>
                <c:pt idx="1">
                  <c:v>5.6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C8D6E5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88d89c3-13ae-45ed-adc9-f5913970a06c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%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Loyal</c:v>
                </c:pt>
                <c:pt idx="2">
                  <c:v>Potential</c:v>
                </c:pt>
                <c:pt idx="3">
                  <c:v>Needs Att.</c:v>
                </c:pt>
                <c:pt idx="4">
                  <c:v>At-Risk</c:v>
                </c:pt>
                <c:pt idx="5">
                  <c:v>Dormant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12.4</c:v>
                </c:pt>
                <c:pt idx="2">
                  <c:v>19.3</c:v>
                </c:pt>
                <c:pt idx="3">
                  <c:v>6.6</c:v>
                </c:pt>
                <c:pt idx="4">
                  <c:v>14.8</c:v>
                </c:pt>
                <c:pt idx="5">
                  <c:v>25.2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%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Loyal</c:v>
                </c:pt>
                <c:pt idx="2">
                  <c:v>Potential</c:v>
                </c:pt>
                <c:pt idx="3">
                  <c:v>Needs Att.</c:v>
                </c:pt>
                <c:pt idx="4">
                  <c:v>At-Risk</c:v>
                </c:pt>
                <c:pt idx="5">
                  <c:v>Dormant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12.8</c:v>
                </c:pt>
                <c:pt idx="2">
                  <c:v>20.5</c:v>
                </c:pt>
                <c:pt idx="3">
                  <c:v>10.7</c:v>
                </c:pt>
                <c:pt idx="4">
                  <c:v>21</c:v>
                </c:pt>
                <c:pt idx="5">
                  <c:v>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50" b="0" i="0" u="none" strike="noStrike" kern="1200" baseline="0">
              <a:solidFill>
                <a:srgbClr val="C8D6E5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2510209-dec1-4fe7-9df1-d36faea0f4b3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Net Revenue (Rs M)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Tier 1
Champions+Loyal</c:v>
                </c:pt>
                <c:pt idx="1">
                  <c:v>Tier 2
Potential+Needs</c:v>
                </c:pt>
                <c:pt idx="2">
                  <c:v>Tier 3
At-Risk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74.1</c:v>
                </c:pt>
                <c:pt idx="1">
                  <c:v>35.4</c:v>
                </c:pt>
                <c:pt idx="2">
                  <c:v>11.6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b49f6b9-841b-4ee7-9a15-82c8dc48575b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(Rs M)</c:v>
                </c:pt>
              </c:strCache>
            </c:strRef>
          </c:tx>
          <c:spPr>
            <a:solidFill>
              <a:srgbClr val="24355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3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35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43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435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10% cap</c:v>
                </c:pt>
                <c:pt idx="1">
                  <c:v>15% cap</c:v>
                </c:pt>
                <c:pt idx="2">
                  <c:v>20% cap</c:v>
                </c:pt>
                <c:pt idx="3">
                  <c:v>25% cap</c:v>
                </c:pt>
                <c:pt idx="4">
                  <c:v>30% cap
(CHOSEN)</c:v>
                </c:pt>
                <c:pt idx="5">
                  <c:v>35% cap</c:v>
                </c:pt>
                <c:pt idx="6">
                  <c:v>40% cap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74.3</c:v>
                </c:pt>
                <c:pt idx="1">
                  <c:v>91.7</c:v>
                </c:pt>
                <c:pt idx="2">
                  <c:v>105.4</c:v>
                </c:pt>
                <c:pt idx="3">
                  <c:v>117.1</c:v>
                </c:pt>
                <c:pt idx="4">
                  <c:v>127.2</c:v>
                </c:pt>
                <c:pt idx="5">
                  <c:v>136.2</c:v>
                </c:pt>
                <c:pt idx="6">
                  <c:v>144.4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f89ba71-bafe-47a2-9ef9-0e5072704f07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(Rs M)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Base (30%)</c:v>
                </c:pt>
                <c:pt idx="1">
                  <c:v>Tight Cap
25%</c:v>
                </c:pt>
                <c:pt idx="2">
                  <c:v>Loose Cap
35%</c:v>
                </c:pt>
                <c:pt idx="3">
                  <c:v>Tight RR
15%</c:v>
                </c:pt>
                <c:pt idx="4">
                  <c:v>Loose RR
35%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121.1</c:v>
                </c:pt>
                <c:pt idx="1">
                  <c:v>111</c:v>
                </c:pt>
                <c:pt idx="2">
                  <c:v>130</c:v>
                </c:pt>
                <c:pt idx="3">
                  <c:v>118.7</c:v>
                </c:pt>
                <c:pt idx="4">
                  <c:v>124.2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5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30b0d51-784b-4fbe-b3e6-758b5525cb68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M</c:v>
                </c:pt>
              </c:strCache>
            </c:strRef>
          </c:tx>
          <c:spPr>
            <a:solidFill>
              <a:srgbClr val="24355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3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1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Total Test Pool
(1,228 users)</c:v>
                </c:pt>
                <c:pt idx="1">
                  <c:v>Targeted Gross
(368 users)</c:v>
                </c:pt>
                <c:pt idx="2">
                  <c:v>Return Loss
(deducted)</c:v>
                </c:pt>
                <c:pt idx="3">
                  <c:v>Expected Net Rev
(final)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</c:v>
                </c:pt>
                <c:pt idx="1">
                  <c:v>121.7</c:v>
                </c:pt>
                <c:pt idx="2">
                  <c:v>-0.59</c:v>
                </c:pt>
                <c:pt idx="3">
                  <c:v>121.1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8D6E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52030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f820fd0-a76f-450b-8d83-e061ecc7c91f}"/>
      </c:ext>
    </c:extLst>
  </c:chart>
  <c:spPr>
    <a:solidFill>
      <a:srgbClr val="15203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73152"/>
            <a:ext cx="490118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 X  |  NLD SYNAPSE 2026  |  CASE STABILIS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777240"/>
            <a:ext cx="49377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STABILIS</a:t>
            </a:r>
            <a:endParaRPr lang="en-US" sz="8600" dirty="0"/>
          </a:p>
        </p:txBody>
      </p:sp>
      <p:sp>
        <p:nvSpPr>
          <p:cNvPr id="5" name="Text 3"/>
          <p:cNvSpPr/>
          <p:nvPr/>
        </p:nvSpPr>
        <p:spPr>
          <a:xfrm>
            <a:off x="201168" y="2724912"/>
            <a:ext cx="4937760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Targeting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" y="37490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Board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4206240"/>
            <a:ext cx="25603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4315968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  —  01 March 2026  |  1:00 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Constrained Optimisation Decision 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4773168"/>
            <a:ext cx="4937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TEAM NIA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76672" y="0"/>
            <a:ext cx="36576" cy="5143500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76672" y="0"/>
            <a:ext cx="3767328" cy="5143500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292608"/>
            <a:ext cx="3310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OVERVIEW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50992" y="713232"/>
            <a:ext cx="33101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0992" y="768096"/>
            <a:ext cx="29260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777240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16752" y="786384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Mission Brief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50992" y="1056132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065276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16752" y="1074420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Three-Stage Framework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650992" y="1344168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353312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16752" y="1362456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— Behavioural Baseline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650992" y="1632204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1641348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16752" y="1650492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— Revenue &amp; Risk Profile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650992" y="1920240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1929384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16752" y="1938528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— Model Validation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650992" y="2208276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2217420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16752" y="2226564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— Calibration Detail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50992" y="2496312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2505456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16752" y="2514600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3A — Test Set Scoring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650992" y="2784348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793492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16752" y="2802636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3B — Targeting Decision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50992" y="3072384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081528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16752" y="3090672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3B — Constraint Compliance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650992" y="3360420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3369564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16752" y="3378708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3C — Trade-Off Analysis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50992" y="3648456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3657600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16752" y="3666744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3D — Stress &amp; Fragility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650992" y="3936492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0992" y="3945636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16752" y="3954780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Revenue Summary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650992" y="4224528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233672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16752" y="4242816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Deep-Dive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5650992" y="4512564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4521708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16752" y="4530852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5650992" y="4800600"/>
            <a:ext cx="292608" cy="2011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50992" y="4809744"/>
            <a:ext cx="29260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16752" y="4818888"/>
            <a:ext cx="28529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 &amp;  MISSION BRIEF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69494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were asked to build — and why it matters to the 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078992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was generating revenue without discipline — broad targeting inflated return losses and concentrated risk in a fragile group of top-value accounts. The board mandated a data-driven protocol with three explicit, simultaneously enforceable constraints. This submission delivers a complete three-stage solution.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2608" y="1993392"/>
            <a:ext cx="2788920" cy="26334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993392"/>
            <a:ext cx="278892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84832"/>
            <a:ext cx="594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24871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Targeting Budget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017520"/>
            <a:ext cx="248716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most 30% of test users may be targeted. Mass targeting is explicitly prohibited.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703320"/>
            <a:ext cx="2487168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85616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378561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30.0% — 368 of 1,228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8608" y="4059936"/>
            <a:ext cx="384048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4059936"/>
            <a:ext cx="3840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18688" y="1993392"/>
            <a:ext cx="2788920" cy="26334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1993392"/>
            <a:ext cx="278892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084832"/>
            <a:ext cx="594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364992" y="2697480"/>
            <a:ext cx="24871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64992" y="3017520"/>
            <a:ext cx="248716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Top-decile return-risk users must not exceed 25% of the targeted group.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3703320"/>
            <a:ext cx="2487168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785616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41648" y="378561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12.8% — well below 25% ceiling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04688" y="4059936"/>
            <a:ext cx="384048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4059936"/>
            <a:ext cx="3840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44768" y="1993392"/>
            <a:ext cx="2788920" cy="26334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1993392"/>
            <a:ext cx="278892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084832"/>
            <a:ext cx="594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C3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91072" y="2697480"/>
            <a:ext cx="24871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Stability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017520"/>
            <a:ext cx="248716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Top-10% user revenue share must not rise by more than 15pp vs Stage 1 baseline.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3703320"/>
            <a:ext cx="2487168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3785616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7728" y="378561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29.0% vs 68.1% allowed limit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30768" y="4059936"/>
            <a:ext cx="384048" cy="2377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4059936"/>
            <a:ext cx="3840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" y="466344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constraints are satisfied simultaneously — no trade-off between them was made.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THREE-STAGE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69494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Diagnosis  →  Adaptation  →  Constrained Optimisation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2788920" cy="35478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115568"/>
            <a:ext cx="2788920" cy="5120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133856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31673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Behavioural Baseline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166420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  ·  2019–2021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1920240"/>
            <a:ext cx="256032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structural revenue model from scratch. Compute ERPU, purchase likelihood, basket distribution, RFM segments, and return risk. These outputs define the benchmarks all subsequent stages are measured against.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145536"/>
            <a:ext cx="2542032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18688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ERPU baseline: Rs 608K avg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RFM: 6 segments identified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84048" y="3877056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Top-10% concentration: 53.1%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84048" y="4206240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Return rate: 1.34% (low, concentrated)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054096" y="2542032"/>
            <a:ext cx="201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200400" y="1115568"/>
            <a:ext cx="2788920" cy="35478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115568"/>
            <a:ext cx="2788920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1133856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131673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28416" y="166420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HOLDOUT DATA  ·  SAME WINDOW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28416" y="1920240"/>
            <a:ext cx="256032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the Stage 1 model on a holdout set. Assess generalisation, measure calibration quality, identify user-mix effects, and apply Platt scaling before Stage 3 deployment.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28416" y="3145536"/>
            <a:ext cx="2542032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218688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5/8 checks pass — deployable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328416" y="3547872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Spearman r = 0.743 ranking quality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328416" y="3877056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Basket drift: 2.4% (within 10%)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328416" y="4206240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Platt calibration applied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998464" y="2542032"/>
            <a:ext cx="201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144768" y="1115568"/>
            <a:ext cx="2788920" cy="35478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115568"/>
            <a:ext cx="2788920" cy="5120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1133856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72784" y="131673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Constrained Optimisation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72784" y="166420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DATA  ·  OUT-OF-SPACE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72784" y="1920240"/>
            <a:ext cx="256032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all 1,228 test users. Apply Risk-Adjusted Score (RAS). Greedily select under three simultaneous binding constraints. Output ranked targeting list with tier assignments.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2784" y="3145536"/>
            <a:ext cx="2542032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3218688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368 users targeted (30.0%)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272784" y="3547872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Rs 121.1M net revenue captured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272784" y="3877056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63.1% revenue capture rate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272784" y="4206240"/>
            <a:ext cx="2542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4.0× ERPU premium vs non-targeted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347472" y="466344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 of reasoning matters as much as correctness — each stage meets explicit measurable standards.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 —  BEHAVIOURAL BASELINE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Customer Revenue Analytics Advisory Team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685800"/>
            <a:ext cx="166420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5,794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2019–2021 window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685800"/>
            <a:ext cx="16642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608K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2140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ERPU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2140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user baseline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685800"/>
            <a:ext cx="1664208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70.8%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5876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Buy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with &gt;1 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6811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68112" y="685800"/>
            <a:ext cx="166420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105.9K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9612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Basket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0547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685800"/>
            <a:ext cx="1664208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1.34%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3348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Return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value eroded</a:t>
            </a:r>
            <a:endParaRPr lang="en-US" sz="9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256032" y="1938528"/>
          <a:ext cx="4206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256032" y="4617720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Net Revenue (Rs K) — training baseline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36592" y="1938528"/>
            <a:ext cx="4114800" cy="56692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864608" y="1975104"/>
            <a:ext cx="38587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Concentration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864608" y="2212848"/>
            <a:ext cx="38587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10% of users → 53.1% of revenue. Champions alone drive 41% of net revenue — a fragile, highly top-heavy structure.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36592" y="2596896"/>
            <a:ext cx="4114800" cy="56692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864608" y="2633472"/>
            <a:ext cx="38587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Distribution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4864608" y="2871216"/>
            <a:ext cx="38587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Heavy-tail basket: top 10% of baskets = 31.5% of GMV. Any churn in the top tier causes immediate material revenue loss.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36592" y="3255264"/>
            <a:ext cx="4114800" cy="56692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864608" y="3291840"/>
            <a:ext cx="38587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Category: Home Decor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4864608" y="3529584"/>
            <a:ext cx="38587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Decor &amp; Gifting: 25.5% revenue share. Storage &amp; Organisation: 17.4%. These two alone account for &gt;40% of gross revenue.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36592" y="3913632"/>
            <a:ext cx="4114800" cy="56692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864608" y="3950208"/>
            <a:ext cx="38587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Profile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4864608" y="4187952"/>
            <a:ext cx="38587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return rate: 1.34% — low but concentrated in Fashion &amp; Accessories, which carries the highest per-category return rate.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 —  REVENUE &amp; RISK PROFILE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INSIGHTS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69494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revenue mix and return risk by segment — the two structural forces shaping targeting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56032" y="1078992"/>
          <a:ext cx="4224528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256032" y="4462272"/>
            <a:ext cx="422452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Revenue Share (%) — training baseline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663440" y="1078992"/>
          <a:ext cx="4206240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663440" y="4462272"/>
            <a:ext cx="4206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 (%) by Segment — Dormant returns 7.6× more than Champions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 —  MODEL VALIDATION &amp; ROBUSTNESS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8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56032" y="685800"/>
          <a:ext cx="502920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256032" y="4114800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KPIs — Training vs Validation (indexed, higher = better)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59552" y="685800"/>
            <a:ext cx="3310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vs Validation Scorecard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59552" y="1097280"/>
            <a:ext cx="3310128" cy="402336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50992" y="1170432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ERPU Deviation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52360" y="1170432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75.0%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38160" y="1161288"/>
            <a:ext cx="60350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1161288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59552" y="1563624"/>
            <a:ext cx="3310128" cy="402336"/>
          </a:xfrm>
          <a:prstGeom prst="rect">
            <a:avLst/>
          </a:prstGeom>
          <a:solidFill>
            <a:srgbClr val="0D152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50992" y="1636776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Value Deviation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52360" y="1636776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138160" y="1627632"/>
            <a:ext cx="603504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1627632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59552" y="2029968"/>
            <a:ext cx="3310128" cy="402336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50992" y="210312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Purchase Deviation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52360" y="2103120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44.8pp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138160" y="2093976"/>
            <a:ext cx="60350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38160" y="2093976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59552" y="2496312"/>
            <a:ext cx="3310128" cy="402336"/>
          </a:xfrm>
          <a:prstGeom prst="rect">
            <a:avLst/>
          </a:prstGeom>
          <a:solidFill>
            <a:srgbClr val="0D152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0992" y="2569464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 Deviation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52360" y="2569464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0.25pp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138160" y="2560320"/>
            <a:ext cx="603504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2560320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559552" y="2962656"/>
            <a:ext cx="3310128" cy="402336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50992" y="3035808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Top-20 SKU Overlap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452360" y="3035808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138160" y="3026664"/>
            <a:ext cx="60350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38160" y="3026664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559552" y="3429000"/>
            <a:ext cx="3310128" cy="402336"/>
          </a:xfrm>
          <a:prstGeom prst="rect">
            <a:avLst/>
          </a:prstGeom>
          <a:solidFill>
            <a:srgbClr val="0D152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50992" y="3502152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Category Drift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52360" y="3502152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1.2pp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138160" y="3493008"/>
            <a:ext cx="603504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38160" y="3493008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559552" y="3895344"/>
            <a:ext cx="3310128" cy="402336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50992" y="3968496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Top-Decile Lift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52360" y="3968496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3.90×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138160" y="3959352"/>
            <a:ext cx="603504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38160" y="3959352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559552" y="4361688"/>
            <a:ext cx="3310128" cy="402336"/>
          </a:xfrm>
          <a:prstGeom prst="rect">
            <a:avLst/>
          </a:prstGeom>
          <a:solidFill>
            <a:srgbClr val="0D152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50992" y="443484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 (Spearman r)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452360" y="4434840"/>
            <a:ext cx="6583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0.743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138160" y="4425696"/>
            <a:ext cx="603504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425696"/>
            <a:ext cx="6035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559552" y="4663440"/>
            <a:ext cx="331012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5/8 checks PASS — model is deployable with calibration adjustments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 —  ROOT CAUSE &amp; CALIBRATION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69494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Stage 2 deviations are explained by user-mix shift, not model failure — and what we did about it</a:t>
            </a:r>
            <a:endParaRPr lang="en-US" sz="12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56032" y="1051560"/>
          <a:ext cx="3520440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256032" y="4160520"/>
            <a:ext cx="3520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94.4% of validation users are returning customers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41648" y="1051560"/>
            <a:ext cx="4809744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41648" y="1051560"/>
            <a:ext cx="91440" cy="6400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24528" y="1088136"/>
            <a:ext cx="44622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 Confirmed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24528" y="1362456"/>
            <a:ext cx="4462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94.4% of validation users are returning customers. Validation has far fewer high-frequency Champions — this compresses ERPU artificially.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41648" y="1801368"/>
            <a:ext cx="4809744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041648" y="1801368"/>
            <a:ext cx="91440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24528" y="1837944"/>
            <a:ext cx="44622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Shape Preserved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24528" y="2112264"/>
            <a:ext cx="4462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value deviation: only 2.4%. The model's core revenue structure generalises correctly. SKU and category rank order are stable.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041648" y="2551176"/>
            <a:ext cx="4809744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041648" y="2551176"/>
            <a:ext cx="914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24528" y="2587752"/>
            <a:ext cx="44622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Calibration Applied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24528" y="2862072"/>
            <a:ext cx="4462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Segment-level ERPU baselines replace aggregate. Champions ERPU: Rs 389K (was Rs 1.89M in aggregate training). More accurate targeting signal.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041648" y="3300984"/>
            <a:ext cx="4809744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041648" y="3300984"/>
            <a:ext cx="91440" cy="6400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24528" y="3337560"/>
            <a:ext cx="44622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Ranking Quality Confirmed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24528" y="3611880"/>
            <a:ext cx="4462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Spearman r = 0.743. Score ranking is reliable — the model correctly orders users by revenue potential even under user-mix shift conditions.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041648" y="4050792"/>
            <a:ext cx="4809744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041648" y="4050792"/>
            <a:ext cx="91440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24528" y="4087368"/>
            <a:ext cx="44622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Platt Scaling Applied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224528" y="4361688"/>
            <a:ext cx="4462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likelihood scores re-calibrated using Platt scaling on F-score. Verdict: 5/8 scorecard checks pass — the model is approved for Stage 3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3A  —  TEST SET USER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OUT-OF-SPACE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685800"/>
            <a:ext cx="166420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1,228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Users Scored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 2021–Dec 2022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685800"/>
            <a:ext cx="16642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156K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2140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ERPU (Test)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2140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user expected net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685800"/>
            <a:ext cx="1664208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102K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5876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ERPU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5876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50th percentile user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6811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68112" y="685800"/>
            <a:ext cx="1664208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0.58%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9612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 Return Risk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Top-decile threshold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05472" y="685800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685800"/>
            <a:ext cx="16642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813816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33488" y="1252728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1490472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return risk decile</a:t>
            </a:r>
            <a:endParaRPr lang="en-US" sz="9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256032" y="1901952"/>
          <a:ext cx="5029200" cy="267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256032" y="4590288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Mix (%) — Training vs Test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532120" y="1901952"/>
            <a:ext cx="3310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Scoring Methodology — 4 Signals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532120" y="2331720"/>
            <a:ext cx="3310128" cy="45720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32120" y="2331720"/>
            <a:ext cx="347472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441448"/>
            <a:ext cx="3474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961888" y="2368296"/>
            <a:ext cx="2761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Probability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961888" y="2578608"/>
            <a:ext cx="276148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F-score / 5 (calibrated purchase frequency)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532120" y="2880360"/>
            <a:ext cx="3310128" cy="45720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532120" y="2880360"/>
            <a:ext cx="347472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532120" y="2990088"/>
            <a:ext cx="3474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961888" y="2916936"/>
            <a:ext cx="2761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Basket Value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961888" y="3127248"/>
            <a:ext cx="276148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Observed average basket value per user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532120" y="3429000"/>
            <a:ext cx="3310128" cy="45720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532120" y="3429000"/>
            <a:ext cx="347472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532120" y="3538728"/>
            <a:ext cx="3474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5961888" y="3465576"/>
            <a:ext cx="2761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Return Loss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961888" y="3675888"/>
            <a:ext cx="276148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returns in test window per user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532120" y="3977640"/>
            <a:ext cx="3310128" cy="45720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32120" y="3977640"/>
            <a:ext cx="347472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32120" y="4087368"/>
            <a:ext cx="3474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5961888" y="4014216"/>
            <a:ext cx="2761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Net Revenue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961888" y="4224528"/>
            <a:ext cx="276148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Revenue minus Return Loss (ERPU)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532120" y="4572000"/>
            <a:ext cx="331012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shift: At-Risk ↑ +6.2pp · Champions ↓ -5.7pp vs training → Risk-Adjusted Score applied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3B  —  TARGETING DECISION &amp; SELECTION RULE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658368"/>
            <a:ext cx="8631936" cy="566928"/>
          </a:xfrm>
          <a:prstGeom prst="rect">
            <a:avLst/>
          </a:prstGeom>
          <a:solidFill>
            <a:srgbClr val="1A29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740664"/>
            <a:ext cx="1234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 RULE: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740664"/>
            <a:ext cx="7059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Risk-Adjusted Score (RAS) = Expected Net Revenue × (1 − Return Risk Score)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" y="950976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ranked descending by RAS → greedy selection → constraint enforcement applied iteratively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353312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353312"/>
            <a:ext cx="166420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81328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048" y="1920240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Targeted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157984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30.0% of test pool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93392" y="1353312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3392" y="1353312"/>
            <a:ext cx="16642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1481328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121.1M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121408" y="1920240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Net Rev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21408" y="2157984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group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30752" y="1353312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30752" y="1353312"/>
            <a:ext cx="1664208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481328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58768" y="1920240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Capture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8768" y="2157984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total test net rev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68112" y="1353312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68112" y="1353312"/>
            <a:ext cx="166420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481328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329K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96128" y="1920240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ERPU Targeted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96128" y="2157984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4.0× non-targeted avg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05472" y="1353312"/>
            <a:ext cx="1664208" cy="111556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05472" y="1353312"/>
            <a:ext cx="1664208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3488" y="1481328"/>
            <a:ext cx="14081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33488" y="1920240"/>
            <a:ext cx="140817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Share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33488" y="2157984"/>
            <a:ext cx="14081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 below 25% limit</a:t>
            </a:r>
            <a:endParaRPr lang="en-US" sz="9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56032" y="2606040"/>
          <a:ext cx="420624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256032" y="4581144"/>
            <a:ext cx="4206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Net Revenue (Rs M) by Tier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709160" y="2606040"/>
            <a:ext cx="41330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Risk-Adjusted Score?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709160" y="3017520"/>
            <a:ext cx="4133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Pure ERPU ranking over-weights extreme-value users, amplifying concentration risk beyond C3 limit.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709160" y="3456432"/>
            <a:ext cx="4133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RAS penalty reduces selection of users who generate gross revenue but erode net margin through returns.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09160" y="3895344"/>
            <a:ext cx="4133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Greedy filter with iterative constraint enforcement ensures no single rule creates simultaneous violations.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709160" y="4334256"/>
            <a:ext cx="41330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Result: 4× ERPU premium in targeted vs non-targeted group — strong signal quality confirmed.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3B  —  CONSTRAINT COMPLIANCE  |  ALL 5 CHECKS PASS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5 / 5  PASS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658368"/>
            <a:ext cx="8631936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658368"/>
            <a:ext cx="38404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877824"/>
            <a:ext cx="3840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713232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TARGETING BUDGET CONSTRAINT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987552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≤ 30% of test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24528" y="713232"/>
            <a:ext cx="777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24528" y="9144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30.0%  (368 / 1,228 users)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24528" y="1179576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Exactly at the cap — full budget deployed for maximum revenue capture.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877824"/>
            <a:ext cx="566928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905256"/>
            <a:ext cx="5669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490472"/>
            <a:ext cx="8631936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1490472"/>
            <a:ext cx="38404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1709928"/>
            <a:ext cx="3840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1545336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181965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Top-decile return risk ≤ 25% of targeted group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24528" y="1545336"/>
            <a:ext cx="777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74650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12.8%  (47 of 368 targeted users)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24528" y="201168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 within limit. Greedy filter excluded 76 high-return users who would have breached cap.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0" y="1709928"/>
            <a:ext cx="566928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37360"/>
            <a:ext cx="5669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2322576"/>
            <a:ext cx="8631936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322576"/>
            <a:ext cx="38404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542032"/>
            <a:ext cx="3840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9808" y="2377440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STABILITY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9808" y="2651760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Top-10% share ≤ Stage-1 baseline +15pp  (≤ 68.1%)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24528" y="2377440"/>
            <a:ext cx="777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24528" y="257860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29.0%  (far below 68.1% limit)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224528" y="2843784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in targeted group is actually lower than training — strong structural stability.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2542032"/>
            <a:ext cx="566928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2569464"/>
            <a:ext cx="5669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3154680"/>
            <a:ext cx="8631936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3154680"/>
            <a:ext cx="38404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374136"/>
            <a:ext cx="3840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" y="3209544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CAPTURE RATE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9808" y="348386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Internal target: &gt; 50% of total test net revenue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24528" y="3209544"/>
            <a:ext cx="777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224528" y="34107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63.1%  (Rs 121.1M of Rs 192.0M)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224528" y="3675888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of users capture 63% of total net revenue — strong targeting efficiency.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29600" y="3374136"/>
            <a:ext cx="566928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3401568"/>
            <a:ext cx="5669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3986784"/>
            <a:ext cx="8631936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3986784"/>
            <a:ext cx="384048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206240"/>
            <a:ext cx="3840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9808" y="4041648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ERPU PREMIUM — Targeted vs Non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49808" y="4315968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Internal target: &gt; 2× average ERPU lift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4041648"/>
            <a:ext cx="777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24528" y="424281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4.0×  (Rs 329K vs Rs 82K)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224528" y="4507992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users deliver 4× the expected net revenue of non-targeted users.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29600" y="4206240"/>
            <a:ext cx="566928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4233672"/>
            <a:ext cx="5669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3C  —  TRADE-OFF QUANTIFICATION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MARGINAL GAIN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8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56032" y="685800"/>
          <a:ext cx="5120640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256032" y="3794760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Net Revenue (Rs M) by Targeting Cap — green = chosen, gold = feasible upside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032" y="4041648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Incremental revenue per 5pp cap expansion: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17.3M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97280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13.7M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938528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38528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11.7M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79776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79776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10.1M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621024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21024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9.0M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462272" y="4279392"/>
            <a:ext cx="786384" cy="38404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4315968"/>
            <a:ext cx="786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8.2M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685800"/>
            <a:ext cx="3218688" cy="93268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23560" y="685800"/>
            <a:ext cx="91440" cy="9326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740664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vs Risk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806440" y="1033272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High-ERPU users have low return rates — minimal tension between revenue maximisation and risk control. RAS naturally filters high-risk, high-gross users.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23560" y="1764792"/>
            <a:ext cx="3218688" cy="93268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23560" y="1764792"/>
            <a:ext cx="91440" cy="9326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819656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vs Concentration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06440" y="2112264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Top-10% concentration stays at ~29–32% across all caps. Well below 68.1% limit. No concentration amplification risk at any tested cap level.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23560" y="2843784"/>
            <a:ext cx="3218688" cy="932688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23560" y="2843784"/>
            <a:ext cx="91440" cy="9326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2898648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Marginal Gain Finding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806440" y="3191256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 cap → 39% capture (high efficiency). 30% cap → 66% capture (chosen). 25%→30% adds Rs 10.1M (+8.6%). Board should review 35% if marginal cost of targeting is low.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3D  —  STRESS SENSITIVITY &amp; STRUCTURAL FRAGILITY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FRAGILITY TEST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69494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stress scenarios tested — the strategy is robust to all moderate parameter shifts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56032" y="987552"/>
          <a:ext cx="512064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256032" y="4133088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Revenue (Rs M) under five stress scenarios — base = green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96128" y="987552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Sensitivity Hierarchy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96128" y="1417320"/>
            <a:ext cx="3246120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96128" y="1417320"/>
            <a:ext cx="4572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16002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44768" y="1463040"/>
            <a:ext cx="25786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Targeting cap magnitude (most sensitive driver)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44768" y="1764792"/>
            <a:ext cx="257860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Tight 25% cap → −8.3% revenue loss (Rs 10.1M)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96128" y="2167128"/>
            <a:ext cx="3246120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96128" y="2167128"/>
            <a:ext cx="45720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96128" y="2350008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2nd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44768" y="2212848"/>
            <a:ext cx="25786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threshold direction (moderate impact)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44768" y="2514600"/>
            <a:ext cx="257860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Tighter 15% RR → only −1.9% impact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596128" y="2916936"/>
            <a:ext cx="3246120" cy="640080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96128" y="2916936"/>
            <a:ext cx="45720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96128" y="3099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3rd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44768" y="2962656"/>
            <a:ext cx="25786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limit (non-binding at all tested caps)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44768" y="3264408"/>
            <a:ext cx="257860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C3 never breached at any scenario tested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596128" y="3730752"/>
            <a:ext cx="3246120" cy="914400"/>
          </a:xfrm>
          <a:prstGeom prst="rect">
            <a:avLst/>
          </a:prstGeom>
          <a:solidFill>
            <a:srgbClr val="1A29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42432" y="3803904"/>
            <a:ext cx="2926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FRAGILITY VERDICT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742432" y="4078224"/>
            <a:ext cx="29260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scenarios remain feasible — no constraint violations under any tested parameter shift. Decision is ROBUST to moderate changes. Protect the 30% cap; return risk threshold has headroom.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REVENUE SUMMARY  —  ALL THREE STAGES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8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56032" y="685800"/>
          <a:ext cx="512064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256032" y="3840480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Waterfall — from full test pool to captured net revenue (Rs M)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685800"/>
            <a:ext cx="321868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23560" y="685800"/>
            <a:ext cx="91440" cy="8778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731520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Metrics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06440" y="1033272"/>
            <a:ext cx="28712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Stage-1 top-10% concentration: 53.1%. Targeted group: 29.0%. Concentration actually DECREASED — Lorenz curve shows healthier revenue distribution post-targeting.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23560" y="1709928"/>
            <a:ext cx="321868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23560" y="1709928"/>
            <a:ext cx="91440" cy="8778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1755648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Exposure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06440" y="2057400"/>
            <a:ext cx="28712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group return rate: 0.49% — below overall test average of 1.7%. Expected return loss: Rs 589,900 on Rs 121.7M gross (0.49%). Minimal erosion.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23560" y="2734056"/>
            <a:ext cx="321868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23560" y="2734056"/>
            <a:ext cx="91440" cy="87782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2779776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Basket Growth Overlay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06440" y="3081528"/>
            <a:ext cx="28712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All-levers scenario projects +33% ERPU uplift for Champions. Bundle + frequency nudge for At-Risk: highest ROI intervention. Net potential: Rs 196M → Rs 243M (+24%).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623560" y="3758184"/>
            <a:ext cx="321868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23560" y="3758184"/>
            <a:ext cx="91440" cy="8778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03904"/>
            <a:ext cx="287121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Integration Chain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06440" y="4105656"/>
            <a:ext cx="28712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→ RFM + ERPU baseline (Rs 608K avg). Stage 2 → Segment ERPU + Spearman 0.743 ranking. Stage 3 → RAS targeting → Rs 121.1M net captured.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6032" y="4096512"/>
            <a:ext cx="5120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Diminishing returns: each 5pp cap expansion yields ~Rs 8–17M additional revenue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52030"/>
          </a:solidFill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 &amp;  STRATEGIC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28016"/>
            <a:ext cx="16642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VERDICT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A111C"/>
          </a:solidFill>
          <a:ln w="12700">
            <a:solidFill>
              <a:srgbClr val="0A1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910328"/>
            <a:ext cx="7498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|  TEAM NIA  |  NLD Synapse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713232"/>
            <a:ext cx="2212848" cy="71323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74980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" y="11155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Targeted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of 1,228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1536192"/>
            <a:ext cx="2212848" cy="71323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7276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 121M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" y="193852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Net Rev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63.1% capture rate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59152"/>
            <a:ext cx="2212848" cy="71323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9572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" y="276148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ERPU Premium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non-targeted group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82112"/>
            <a:ext cx="2212848" cy="71323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21868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35844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Met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Board limits satisfied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4005072"/>
            <a:ext cx="2212848" cy="71323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04164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−8.3%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7472" y="440740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Fragility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25% cap scenario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713232"/>
            <a:ext cx="614476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97480" y="713232"/>
            <a:ext cx="475488" cy="87782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987552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73552" y="768096"/>
            <a:ext cx="5431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RAS Targeting Immediately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73552" y="1097280"/>
            <a:ext cx="54315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the 368-user targeting list. 63.1% revenue capture in just 30% of users demonstrates strong model efficiency. The Risk-Adjusted Score correctly penalises margin-eroding returners.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1737360"/>
            <a:ext cx="614476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97480" y="1737360"/>
            <a:ext cx="475488" cy="8778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6624" y="2011680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73552" y="1792224"/>
            <a:ext cx="5431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the Targeting Cap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73552" y="2121408"/>
            <a:ext cx="54315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30% cap is the most sensitive parameter. Tightening to 25% loses Rs 10.1M (−8.3%). Relaxing to 35% gains Rs 9M (+7.4%). Review cost-to-target before expanding.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97480" y="2761488"/>
            <a:ext cx="614476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97480" y="2761488"/>
            <a:ext cx="475488" cy="8778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06624" y="3035808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273552" y="2816352"/>
            <a:ext cx="5431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At-Risk Segment Closely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273552" y="3145536"/>
            <a:ext cx="54315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 users are up +6.2pp in the test window. If this trend continues, return risk concentration will rise. Implement quarterly RFM re-scoring with updated thresholds.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97480" y="3785616"/>
            <a:ext cx="6144768" cy="877824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97480" y="3785616"/>
            <a:ext cx="475488" cy="87782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6624" y="4059936"/>
            <a:ext cx="457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73552" y="3840480"/>
            <a:ext cx="5431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 Basket Growth Levers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273552" y="4169664"/>
            <a:ext cx="54315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All-levers scenario projects Rs 243M net revenue (+24% over baseline). Bundle offers for Needs Attention and frequency nudges for At-Risk/Dormant are highest-ROI interventions.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9728"/>
            <a:ext cx="8412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STABILIS  ·  NLD Synapse 2026  ·  TEAM NIA  ·  01 March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7472" y="1298448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submission demonstrated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7472" y="1719072"/>
            <a:ext cx="4937760" cy="8046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719072"/>
            <a:ext cx="91440" cy="8046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64792"/>
            <a:ext cx="4663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— Analytical Foundation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048256"/>
            <a:ext cx="4663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concentration, RFM dynamics, and return risk are structural. Modelling them correctly creates anchors — ERPU, segment baselines, concentration metrics — that hold across all three stages.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633472"/>
            <a:ext cx="4937760" cy="8046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633472"/>
            <a:ext cx="91440" cy="8046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679192"/>
            <a:ext cx="4663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— Recalibration Discipline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962656"/>
            <a:ext cx="4663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generalises. KPI deviations are explained by user-mix shifts, not model error. Spearman r = 0.743 confirms ranking quality. Platt calibration keeps scores aligned with observed behaviour.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547872"/>
            <a:ext cx="4937760" cy="80467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547872"/>
            <a:ext cx="91440" cy="8046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93592"/>
            <a:ext cx="4663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 — Structural Judgment Under Constraint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3877056"/>
            <a:ext cx="4663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 targeting + greedy constraint filtering delivers Rs 121.1M net revenue while satisfying all 5 checks simultaneously. 4× ERPU premium. 63.1% revenue capture in 30% of users. Zero constraint sacrificed.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96128" y="1298448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Scorecard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596128" y="1737360"/>
            <a:ext cx="3246120" cy="43891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24144" y="1828800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Targeting Cap (C1)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65008" y="1801368"/>
            <a:ext cx="658368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810512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96128" y="2267712"/>
            <a:ext cx="3246120" cy="43891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4144" y="235915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(C2)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65008" y="2331720"/>
            <a:ext cx="658368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2340864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96128" y="2798064"/>
            <a:ext cx="3246120" cy="43891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2889504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 (C3)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5008" y="2862072"/>
            <a:ext cx="658368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2871216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96128" y="3328416"/>
            <a:ext cx="3246120" cy="43891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3419856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Checks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65008" y="3392424"/>
            <a:ext cx="658368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5008" y="3401568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96128" y="3858768"/>
            <a:ext cx="3246120" cy="438912"/>
          </a:xfrm>
          <a:prstGeom prst="rect">
            <a:avLst/>
          </a:prstGeom>
          <a:solidFill>
            <a:srgbClr val="1A294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24144" y="3950208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Stress Scenarios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65008" y="3922776"/>
            <a:ext cx="658368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3931920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5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96128" y="4572000"/>
            <a:ext cx="3246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 of reasoning matters as much as correctness.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submission demonstrates both.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13182</Words>
  <Application>WPS Presentation</Application>
  <PresentationFormat>On-screen Show (16:9)</PresentationFormat>
  <Paragraphs>756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STABILIS — Executive Board Presentation</dc:title>
  <dc:creator>PptxGenJS</dc:creator>
  <dc:subject>PptxGenJS Presentation</dc:subject>
  <cp:lastModifiedBy>Indra Nath Sanyal</cp:lastModifiedBy>
  <cp:revision>3</cp:revision>
  <dcterms:created xsi:type="dcterms:W3CDTF">2026-03-01T02:09:00Z</dcterms:created>
  <dcterms:modified xsi:type="dcterms:W3CDTF">2026-03-01T02:22:58Z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950E5AB101D34430BA1EB419E31A12FF_13</vt:lpwstr>
  </property>
  <property fmtid="{D5CDD505-2E9C-101B-9397-08002B2CF9AE}" pid="3" name="KSOProductBuildVer">
    <vt:lpwstr>1033-12.2.0.23196</vt:lpwstr>
  </property>
</Properties>
</file>